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  Data &amp; State</c:v>
                  </c:pt>
                  <c:pt idx="1">
                    <c:v>B  Async &amp; Scale</c:v>
                  </c:pt>
                  <c:pt idx="2">
                    <c:v>C  Auth &amp; Tenancy</c:v>
                  </c:pt>
                  <c:pt idx="3">
                    <c:v>D  AI Quality ★</c:v>
                  </c:pt>
                  <c:pt idx="4">
                    <c:v>E  CI/CD &amp; Deploy</c:v>
                  </c:pt>
                  <c:pt idx="5">
                    <c:v>F  Infra &amp; Ops</c:v>
                  </c:pt>
                  <c:pt idx="6">
                    <c:v>G  Testing &amp; QA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4</c:v>
                </c:pt>
                <c:pt idx="2">
                  <c:v>4.5</c:v>
                </c:pt>
                <c:pt idx="3">
                  <c:v>10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(additional)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  Data &amp; State</c:v>
                  </c:pt>
                  <c:pt idx="1">
                    <c:v>B  Async &amp; Scale</c:v>
                  </c:pt>
                  <c:pt idx="2">
                    <c:v>C  Auth &amp; Tenancy</c:v>
                  </c:pt>
                  <c:pt idx="3">
                    <c:v>D  AI Quality ★</c:v>
                  </c:pt>
                  <c:pt idx="4">
                    <c:v>E  CI/CD &amp; Deploy</c:v>
                  </c:pt>
                  <c:pt idx="5">
                    <c:v>F  Infra &amp; Ops</c:v>
                  </c:pt>
                  <c:pt idx="6">
                    <c:v>G  Testing &amp; QA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</c:v>
                </c:pt>
                <c:pt idx="1">
                  <c:v>3</c:v>
                </c:pt>
                <c:pt idx="2">
                  <c:v>1.5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6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Production-Grade Estimate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de-risked POC to production v1 — effort, timeline, and where it goes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25400">
            <a:solidFill>
              <a:srgbClr val="C8A800"/>
            </a:solidFill>
            <a:prstDash val="solid"/>
          </a:ln>
          <a:effectLst>
            <a:outerShdw sx="100000" sy="100000" kx="0" ky="0" algn="bl" rotWithShape="0" blurRad="88900" dist="25400" dir="5400000">
              <a:srgbClr val="27AE6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813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4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44.5–68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4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engineer-weeks of effort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47288" y="137160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8F4FF"/>
          </a:solidFill>
          <a:ln w="25400">
            <a:solidFill>
              <a:srgbClr val="5B9BD5"/>
            </a:solidFill>
            <a:prstDash val="solid"/>
          </a:ln>
          <a:effectLst>
            <a:outerShdw sx="100000" sy="100000" kx="0" ky="0" algn="bl" rotWithShape="0" blurRad="88900" dist="25400" dir="5400000">
              <a:srgbClr val="27AE6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47288" y="14813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16–22 wks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38728" y="20665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 (parallelized)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37376" y="137160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8F8F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88900" dist="25400" dir="5400000">
              <a:srgbClr val="27AE6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14813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~4–5.5 mo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28816" y="20665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a solid v1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27464" y="137160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ln w="25400">
            <a:solidFill>
              <a:srgbClr val="9C6FD6"/>
            </a:solidFill>
            <a:prstDash val="solid"/>
          </a:ln>
          <a:effectLst>
            <a:outerShdw sx="100000" sy="100000" kx="0" ky="0" algn="bl" rotWithShape="0" blurRad="88900" dist="25400" dir="5400000">
              <a:srgbClr val="27AE6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27464" y="14813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1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518904" y="20665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1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mid/senior engineers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Effort by workstream  (engineer-weeks, low – high)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" y="2971800"/>
          <a:ext cx="6126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858000" y="2743200"/>
            <a:ext cx="4846320" cy="1627632"/>
          </a:xfrm>
          <a:prstGeom prst="roundRect">
            <a:avLst>
              <a:gd name="adj" fmla="val 4494"/>
            </a:avLst>
          </a:prstGeom>
          <a:solidFill>
            <a:srgbClr val="E8F8F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88900" dist="25400" dir="5400000">
              <a:srgbClr val="27AE6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59168" y="28529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 ·  Already done (the hard part)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59168" y="3200400"/>
            <a:ext cx="44622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Multi-scanner orchestration · LLM analysis &amp; RAG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remediation (Claude Agent SDK on Bedrock)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PR creation  —  ~60–65% of steady-state value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858000" y="452628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FFF3E0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88900" dist="25400" dir="5400000">
              <a:srgbClr val="27AE6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059168" y="46360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3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 ·  For production (mostly engineering, not R&amp;D)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132320" y="49834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7D3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 (scans are in-memory; RDS not wired)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7D3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/ RBAC / multi-tenancy  —  none today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7D3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 worker (SQS provisioned, no consumer)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7D3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triggers + test-gated validation + deploy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7D3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 hardening, observability, test coverage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Rollout Plan &amp; Scope Decisions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95097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Front-load the production foundation so the AI core can run safely on real repos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85032" cy="3200400"/>
          </a:xfrm>
          <a:prstGeom prst="roundRect">
            <a:avLst>
              <a:gd name="adj" fmla="val 2000"/>
            </a:avLst>
          </a:prstGeom>
          <a:solidFill>
            <a:srgbClr val="E8F4FF"/>
          </a:solidFill>
          <a:ln w="28575">
            <a:solidFill>
              <a:srgbClr val="5B9BD5"/>
            </a:solidFill>
            <a:prstDash val="solid"/>
          </a:ln>
          <a:effectLst>
            <a:outerShdw sx="100000" sy="100000" kx="0" ky="0" algn="bl" rotWithShape="0" blurRad="88900" dist="25400" dir="5400000">
              <a:srgbClr val="27AE6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2763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27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62763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4–6 weeks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39696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Foundation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670048"/>
            <a:ext cx="31821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 data model + wire app (kill in-memory store)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Auth, RBAC, secrets management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 test coverage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A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Deployable &amp; safe for real repos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685032" cy="3200400"/>
          </a:xfrm>
          <a:prstGeom prst="roundRect">
            <a:avLst>
              <a:gd name="adj" fmla="val 2000"/>
            </a:avLst>
          </a:prstGeom>
          <a:solidFill>
            <a:srgbClr val="EDE7F6"/>
          </a:solidFill>
          <a:ln w="28575">
            <a:solidFill>
              <a:srgbClr val="9C6FD6"/>
            </a:solidFill>
            <a:prstDash val="solid"/>
          </a:ln>
          <a:effectLst>
            <a:outerShdw sx="100000" sy="100000" kx="0" ky="0" algn="bl" rotWithShape="0" blurRad="88900" dist="25400" dir="5400000">
              <a:srgbClr val="27AE6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62763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9C6FD6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627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62763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1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4–6 weeks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139696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1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&amp; Deploy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2670048"/>
            <a:ext cx="31821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1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SQS worker — scans off the request path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1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triggers (Actions / GitLab / Jenkins)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1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hardening, TLS, observability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3A1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Handles real volume, self-deploys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0" y="1417320"/>
            <a:ext cx="3685032" cy="3200400"/>
          </a:xfrm>
          <a:prstGeom prst="roundRect">
            <a:avLst>
              <a:gd name="adj" fmla="val 2000"/>
            </a:avLst>
          </a:prstGeom>
          <a:solidFill>
            <a:srgbClr val="E8F8F0"/>
          </a:solidFill>
          <a:ln w="28575">
            <a:solidFill>
              <a:srgbClr val="27AE60"/>
            </a:solidFill>
            <a:prstDash val="solid"/>
          </a:ln>
          <a:effectLst>
            <a:outerShdw sx="100000" sy="100000" kx="0" ky="0" algn="bl" rotWithShape="0" blurRad="88900" dist="25400" dir="5400000">
              <a:srgbClr val="27AE6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41080" y="162763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1627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95560" y="162763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6–8 weeks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41080" y="2139696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Differentiation ★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86800" y="2670048"/>
            <a:ext cx="31821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prioritization (EPSS/KEV, exploitability)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Test-gated validation of AI fixes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Fix-quality eval harness; finish guardrails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Defensible, not just “AI Dependabot”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11274552" cy="1572768"/>
          </a:xfrm>
          <a:prstGeom prst="roundRect">
            <a:avLst>
              <a:gd name="adj" fmla="val 3488"/>
            </a:avLst>
          </a:prstGeom>
          <a:solidFill>
            <a:srgbClr val="D4F5E2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88900" dist="25400" dir="5400000">
              <a:srgbClr val="27AE6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50292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that move the estimate the most — lock these to tighten the range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5413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Commercial vs OSS scanners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568756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Snyk/SonarQube/Inspector add license + integration cost; POC already runs OSS equivalents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38144" y="5413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Code-only vs code + cloud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38144" y="568756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Inspector/Prowler = a second pipeline; recommend deferring posture scanning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0488" y="5413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Internal tool vs SaaS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90488" y="568756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Multi-tenancy drives how much of the Auth workstream you need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942832" y="5413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A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Languages in scope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42832" y="568756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Test-execution validation cost scales with each build ecosystem supported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Estimate</dc:title>
  <dc:subject>PptxGenJS Presentation</dc:subject>
  <dc:creator>Code Intelligence Platform</dc:creator>
  <cp:lastModifiedBy>Code Intelligence Platform</cp:lastModifiedBy>
  <cp:revision>1</cp:revision>
  <dcterms:created xsi:type="dcterms:W3CDTF">2026-06-17T16:59:17Z</dcterms:created>
  <dcterms:modified xsi:type="dcterms:W3CDTF">2026-06-17T16:59:17Z</dcterms:modified>
</cp:coreProperties>
</file>